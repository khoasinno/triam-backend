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phản biện cùng toàn thể các thầy cô giáo. Hôm nay em xin phép được đại diện nhóm trình bày báo cáo đồ án tốt nghiệp với đề tài: 'Phát triển nền tảng sách nói tương tác thông minh hỗ trợ học tập'. Dự án hướng tới giải quyết bài toán tiếp thu thụ động của sách nói truyền thống, đưa công nghệ AI đàm thoại hai chiều thời gian thực vào quy trình học tập cá nhân hóa.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Khảo sát các ứng dụng sách nói hàng đầu hiện nay như Fonos hay Voiz FM, em nhận thấy các nền tảng này đã làm rất tốt việc cung cấp âm thanh chất lượng cao. Tuy nhiên, tất cả đều gặp một giới hạn lớn: phát âm thanh thụ động một chiều. Người học không thể dừng lại đặt câu hỏi khi gặp đoạn khó hiểu, và hệ thống cũng không hỗ trợ chắt lọc kiến thức theo nhu cầu riêng.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Xuất phát từ thực tế đó, người học qua sách nói gặp 3 rào cản lớn: Một là sự xao nhãng do nghe một chiều khiến tỷ lệ duy trì tri thức chỉ đạt 10%. Hai là sự quá tải thông tin khi không có thời gian đọc hết cuốn sách dài. Và ba là hiện tượng học trước quên sau, đánh mất 80% kiến thức sau hai ngày do thiếu cơ chế ôn tập đúng thời điểm.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giải quyết triệt để 3 vấn đề trên, hệ thống TriÂm xây dựng 3 giải pháp cốt lõi: Trợ lý đàm thoại giọng nói thời gian thực qua WebRTC bám nguồn RAG; Quy trình chắt lọc kiến thức Pareto 40% dựa trên giá trị; Và hệ thống tự động hóa lịch trình ôn tập ngắt quãng theo thuật toán SuperMemo-2.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cơ sở lý thuyết, em ứng dụng mô hình nhúng câu SBERT với kiến trúc Bi-Encoder. Khác với Cross-Encoder tốn chi phí tính toán lớn, SBERT cho phép tạo vector nhúng độc lập cho từng phân đoạn sách và lưu trữ trước ngoại tuyến. Khi người học đặt câu hỏi, việc so khớp độ tương đồng Cosine diễn ra trên bộ nhớ chỉ mất vài miligiây.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phục vụ RAG đàm thoại không ảo giác, em thiết kế tầng Tìm kiếm lai Hybrid Search. Phương pháp tìm kiếm Vector thuần túy thường dễ bị trôi ngữ cảnh khi gặp từ khóa chuyên ngành. Nhóm kết hợp thuật toán BM25 và Vector Cosine qua công thức RRF, sau đó dùng Cohere Reranker làm Cross-Encoder xếp hạng lại. Cuối cùng, khung RAGAS và mô hình giám định Gemini 3.6 Flash được dùng để đối soát độ bám nguồn khách quan.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kiến trúc công nghệ, Backend được phát triển trên FastAPI với quản lý gói uv hiệu năng cao. Cơ sở dữ liệu PostgreSQL tích hợp pgvector cho phép truy vấn vector tốc độ cao. Dịch vụ LiveKit Cloud đảm nhận truyền phát âm thanh WebRTC hai chiều. Ở phía ứng dụng di động, nhóm dùng Flutter kết hợp cơ sở dữ liệu SQLite Drift để người học có thể nghe bài giảng ngoại tuyến khi không có mạng.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sơ đồ kiến trúc tổng quan của hệ thống. Nhóm tách biệt hoàn toàn luồng nghiệp vụ REST truyền thống chạy qua HTTP và luồng đàm thoại giọng nói qua giao thức WebRTC nhằm triệt tiêu độ trễ. Các tác vụ xử lý tài liệu nặng hoặc tổng hợp âm thanh TTS được đẩy vào hàng đợi Celery và Redis để xử lý ngầm bất đồng bộ.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thiết kế dữ liệu, sơ đồ Usecase thể hiện trọn vẹn vòng đời học tập của độc giả. Ở sơ đồ Lớp, thực thể BookSection sử dụng cấu trúc cây tự liên kết để lưu giữ nguyên vẹn thứ tự chương mục của sách gốc phục vụ RAG. Đồng thời thực thể Book được bổ sung thuộc tính ai_summary để lưu trữ kết quả tóm tắt tổng quan do AI sinh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Ingestion Pipeline biến tệp sách thô thành các bài học âm thanh qua các bước tự động hóa. Khi sách vượt qua cổng kiểm duyệt Validation Gate, nếu người học chọn Full Mode, hệ thống chuẩn hóa giữ nguyên toàn bộ nội dung. Nếu chọn Pareto Mode, hệ thống chạy thuật toán Cosine Similarity gán nhãn tín hiệu ngữ nghĩa cho từng đề mục để định hướng LLM trích xuất các bài học giá trị nhất.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chế độ Pareto, nhóm hiện thực thuật toán Cắt tỉa dựa trên giá trị Phase 24 với tỷ lệ phủ mục tiêu 40%. Thay vì cắt bỏ cứng tuyến tính làm mất các chương quan trọng ở cuối sách như thuật toán cũ, thuật toán mới xếp hạng các bài học theo điểm quan trọng giảm dần để gom các bài giá trị nhất, sau đó tái sắp xếp về đúng trật tự đọc tự nhiên của sách trước khi lưu xuống cơ sở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người học cất lời đàm thoại qua WebRTC, câu hỏi chuyển thành văn bản và đi qua bộ định tuyến Semantic Grounding Router. Bộ định tuyến này phân loại ý định vào 4 nhánh: hỏi siêu dữ liệu, hỏi chương cụ thể, làm rõ ý định hoặc kích hoạt Hybrid RAG. Cơ chế này giúp bỏ qua các bước tìm kiếm vector dư thừa đối với các câu hỏi đơn giản, tối ưu thời gian phản hồi.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giao diện thực tế ứng dụng di động TriÂm phát triển bằng Flutter theo ngôn ngữ thiết kế Glassmorphism hiện đại. Ứng dụng tích hợp bộ lưu cache SQLite bằng thư viện Drift, cho phép lưu trữ bài học và tệp âm thanh trực tiếp trên thiết bị để người học có thể nghe và ôn tập mọi lúc mọi nơi kể cả khi không có kết nối Internet.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toàn bộ dữ liệu thực nghiệm đều được trích xuất trực tiếp từ nhật ký vận hành thực tế trên ứng dụng di động. Về chức năng tự động, 103/103 ca kiểm thử hồi quy qua pytest đạt tỷ lệ 100%. Về hiệu năng đàm thoại qua WebRTC, bộ định tuyến ý định Semantic Router hoạt động cực nhanh với P50 chỉ 29 ms. Luồng trích xuất tri thức Hybrid Search kết hợp Cohere Reranker tiêu tốn trung bình 1.493 ms (P50). Đặc biệt, nhờ áp dụng kỹ thuật truyền phát âm thanh phân đoạn Audio Streaming qua WebRTC, thời gian người học chờ nghe âm thanh phản hồi đầu tiên TTFA chỉ dao động trong khoảng từ 1,8 giây đến 2,5 giây, giúp duy trì nhịp tương tác đàm thoại tự nhiên và mượt mà.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chất lượng bám nguồn và chống ảo giác, em áp dụng bộ chỉ số chuẩn quốc tế RAGAS với mô hình giám khảo độc lập Gemini 3.6 Flash trên tập dữ liệu 60 ca đàm thoại thực tế trải rộng ở 3 miền tri thức. Kết quả thu được đạt mức ấn tượng với độ chính xác nội dung thực tế 98.67%, hai chỉ số ngữ cảnh Precision và Recall đều đạt 95.98%. Đặc biệt, qua bảng thử nghiệm so sánh Ablation Study, giải pháp Tìm kiếm lai Hybrid Search kết hợp gộp xếp hạng RRF và Cohere Reranker do nhóm đề xuất đã chứng minh tính ưu việt vượt trội với độ chính xác trích xuất Top 5 đạt 91.5% và độ thu hồi tri thức đạt 94.0%, vượt xa phương pháp tìm kiếm Vector hoặc Từ khóa thuần túy.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án đã hiện thực hóa thành công nền tảng sách nói học tập tương tác chủ động thông minh đầu tiên hỗ trợ tiếng Việt với độ trễ thấp và độ bám nguồn cao. Trong tương lai, chúng em hướng tới trích xuất tri thức từ các video bài giảng và hỗ trợ clone giọng nói cá nhân. Sau đây em xin phép được trình chiếu video demo thực tế ứng dụng. Em xin chân thành cảm ơn thầy cô đã chú ý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371600"/>
            <a:ext cx="10332720" cy="1828800"/>
          </a:xfrm>
          <a:prstGeom prst="rect">
            <a:avLst/>
          </a:prstGeom>
          <a:noFill/>
        </p:spPr>
        <p:txBody>
          <a:bodyPr wrap="square">
            <a:spAutoFit/>
          </a:bodyPr>
          <a:lstStyle/>
          <a:p>
            <a:pPr>
              <a:defRPr sz="2800" b="1">
                <a:solidFill>
                  <a:srgbClr val="3B82F6"/>
                </a:solidFill>
              </a:defRPr>
            </a:pPr>
            <a:r>
              <a:t>PHÁT TRIỂN NỀN TẢNG SÁCH NÓI TƯƠNG TÁC THÔNG MINH HỖ TRỢ HỌC TẬP</a:t>
            </a:r>
          </a:p>
          <a:p>
            <a:pPr>
              <a:defRPr sz="2000">
                <a:solidFill>
                  <a:srgbClr val="F8FAFC"/>
                </a:solidFill>
              </a:defRPr>
            </a:pPr>
            <a:r>
              <a:t>Hệ thống Trợ lý Học tập Giọng nói Cá nhân hóa TriÂm</a:t>
            </a:r>
          </a:p>
        </p:txBody>
      </p:sp>
      <p:sp>
        <p:nvSpPr>
          <p:cNvPr id="3" name="Rounded Rectangle 2"/>
          <p:cNvSpPr/>
          <p:nvPr/>
        </p:nvSpPr>
        <p:spPr>
          <a:xfrm>
            <a:off x="914400" y="3474720"/>
            <a:ext cx="5486400" cy="2286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THÔNG TIN BÁO CÁO</a:t>
            </a:r>
          </a:p>
          <a:p>
            <a:pPr>
              <a:defRPr sz="1200">
                <a:solidFill>
                  <a:srgbClr val="F8FAFC"/>
                </a:solidFill>
              </a:defRPr>
            </a:pPr>
            <a:r>
              <a:t>• Sinh viên thực hiện: Nguyễn Trần Anh Khoa (HTTT2211026)</a:t>
            </a:r>
          </a:p>
          <a:p>
            <a:pPr>
              <a:defRPr sz="1200">
                <a:solidFill>
                  <a:srgbClr val="F8FAFC"/>
                </a:solidFill>
              </a:defRPr>
            </a:pPr>
            <a:r>
              <a:t>• Sinh viên thực hiện: Nguyễn Thành Đạt (HTTT2211003)</a:t>
            </a:r>
          </a:p>
          <a:p>
            <a:pPr>
              <a:defRPr sz="1200">
                <a:solidFill>
                  <a:srgbClr val="F8FAFC"/>
                </a:solidFill>
              </a:defRPr>
            </a:pPr>
            <a:r>
              <a:t>• Giảng viên hướng dẫn: TS. Nguyễn Trung Việt</a:t>
            </a:r>
          </a:p>
          <a:p>
            <a:pPr>
              <a:defRPr sz="1200">
                <a:solidFill>
                  <a:srgbClr val="F8FAFC"/>
                </a:solidFill>
              </a:defRPr>
            </a:pPr>
            <a:r>
              <a:t>• Đơn vị: Trường Đại học Kỹ thuật - Công nghệ Cần Thơ (CTUT)</a:t>
            </a:r>
          </a:p>
        </p:txBody>
      </p:sp>
      <p:sp>
        <p:nvSpPr>
          <p:cNvPr id="4" name="Rounded Rectangle 3"/>
          <p:cNvSpPr/>
          <p:nvPr/>
        </p:nvSpPr>
        <p:spPr>
          <a:xfrm>
            <a:off x="6766560" y="3474720"/>
            <a:ext cx="4480560" cy="2286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KÉO THẢ MOCKUP ỨNG DỤNG MÔ PHỎNG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PHẦN 1: KHẢO SÁT CÁC HỆ THỐNG SÁCH NÓI HIỆN CÓ</a:t>
            </a:r>
          </a:p>
        </p:txBody>
      </p:sp>
      <p:sp>
        <p:nvSpPr>
          <p:cNvPr id="4" name="Rounded Rectangle 3"/>
          <p:cNvSpPr/>
          <p:nvPr/>
        </p:nvSpPr>
        <p:spPr>
          <a:xfrm>
            <a:off x="731520" y="1463040"/>
            <a:ext cx="59436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B82F6"/>
                </a:solidFill>
              </a:defRPr>
            </a:pPr>
            <a:r>
              <a:t>CÁC NỀN TẢNG PHỔ BIẾN (Fonos, Voiz FM, LeapAhead)</a:t>
            </a:r>
          </a:p>
          <a:p>
            <a:pPr>
              <a:defRPr sz="1200">
                <a:solidFill>
                  <a:srgbClr val="F8FAFC"/>
                </a:solidFill>
              </a:defRPr>
            </a:pPr>
            <a:r>
              <a:t>✔ Ưu điểm: Kho nội dung phong phú, giọng đọc truyền cảm, giao diện thân thiện.</a:t>
            </a:r>
          </a:p>
          <a:p>
            <a:pPr>
              <a:defRPr sz="1200">
                <a:solidFill>
                  <a:srgbClr val="F8FAFC"/>
                </a:solidFill>
              </a:defRPr>
            </a:pPr>
            <a:r>
              <a:t>❌ Hạn chế 1 (Nghe thụ động): Phát âm thanh một chiều, người học không thể hỏi đáp khi gặp khái niệm khó.</a:t>
            </a:r>
          </a:p>
          <a:p>
            <a:pPr>
              <a:defRPr sz="1200">
                <a:solidFill>
                  <a:srgbClr val="F8FAFC"/>
                </a:solidFill>
              </a:defRPr>
            </a:pPr>
            <a:r>
              <a:t>❌ Hạn chế 2 (Thiếu cá nhân hóa): Nghe theo thứ tự tuyến tính cố định, không chọn được trọng tâm phù hợp.</a:t>
            </a:r>
          </a:p>
          <a:p>
            <a:pPr>
              <a:defRPr sz="1200">
                <a:solidFill>
                  <a:srgbClr val="F8FAFC"/>
                </a:solidFill>
              </a:defRPr>
            </a:pPr>
            <a:r>
              <a:t>❌ Hạn chế 3 (Không theo dõi trí nhớ): Thiếu cơ chế nhắc nhở ôn tập ngắt quãng tự động.</a:t>
            </a:r>
          </a:p>
        </p:txBody>
      </p:sp>
      <p:sp>
        <p:nvSpPr>
          <p:cNvPr id="5" name="Rounded Rectangle 4"/>
          <p:cNvSpPr/>
          <p:nvPr/>
        </p:nvSpPr>
        <p:spPr>
          <a:xfrm>
            <a:off x="6949440" y="1463040"/>
            <a:ext cx="44805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CHÈN LOGO / CAPTURE FONOS &amp; VOIZ FM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TÍNH CẤP THIẾT: 3 NỖI ĐAU NGƯỜI HỌC VÀ CƠ SỞ KHOA HỌC</a:t>
            </a:r>
          </a:p>
        </p:txBody>
      </p:sp>
      <p:sp>
        <p:nvSpPr>
          <p:cNvPr id="4" name="Rounded Rectangle 3"/>
          <p:cNvSpPr/>
          <p:nvPr/>
        </p:nvSpPr>
        <p:spPr>
          <a:xfrm>
            <a:off x="731520" y="1463040"/>
            <a:ext cx="329184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F59E0B"/>
                </a:solidFill>
              </a:defRPr>
            </a:pPr>
            <a:r>
              <a:t>1. NGHE THỤ ĐỘNG</a:t>
            </a:r>
          </a:p>
          <a:p>
            <a:pPr>
              <a:defRPr sz="1200">
                <a:solidFill>
                  <a:srgbClr val="F8FAFC"/>
                </a:solidFill>
              </a:defRPr>
            </a:pPr>
            <a:r>
              <a:t>• Dễ buồn ngủ, xao nhãng.</a:t>
            </a:r>
            <a:br/>
            <a:r>
              <a:t>• Người nghe chỉ lưu giữ được 10% kiến thức sau 2 tuần khi nghe thụ động (Theo Tháp tiếp thu Dale).</a:t>
            </a:r>
          </a:p>
        </p:txBody>
      </p:sp>
      <p:sp>
        <p:nvSpPr>
          <p:cNvPr id="5" name="Rounded Rectangle 4"/>
          <p:cNvSpPr/>
          <p:nvPr/>
        </p:nvSpPr>
        <p:spPr>
          <a:xfrm>
            <a:off x="4389120" y="1463040"/>
            <a:ext cx="329184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F59E0B"/>
                </a:solidFill>
              </a:defRPr>
            </a:pPr>
            <a:r>
              <a:t>2. QUÁ TẢI THÔNG TIN</a:t>
            </a:r>
          </a:p>
          <a:p>
            <a:pPr>
              <a:defRPr sz="1200">
                <a:solidFill>
                  <a:srgbClr val="F8FAFC"/>
                </a:solidFill>
              </a:defRPr>
            </a:pPr>
            <a:r>
              <a:t>• Giáo trình dài hàng trăm trang.</a:t>
            </a:r>
            <a:br/>
            <a:r>
              <a:t>• Thiếu thời gian nhưng chỉ có nhu cầu học tập các nội dung cốt lõi nhất của tài liệu.</a:t>
            </a:r>
          </a:p>
        </p:txBody>
      </p:sp>
      <p:sp>
        <p:nvSpPr>
          <p:cNvPr id="6" name="Rounded Rectangle 5"/>
          <p:cNvSpPr/>
          <p:nvPr/>
        </p:nvSpPr>
        <p:spPr>
          <a:xfrm>
            <a:off x="7955279" y="1463040"/>
            <a:ext cx="347472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SƠ ĐỒ ĐỈNH DALE &amp; ĐƯỜNG CONG EBBINGHAUS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MỤC TIÊU VÀ 3 TRỤ CỘT GIẢI PHÁP CỦA HỆ THỐNG TRIÂM</a:t>
            </a:r>
          </a:p>
        </p:txBody>
      </p:sp>
      <p:sp>
        <p:nvSpPr>
          <p:cNvPr id="4" name="Rounded Rectangle 3"/>
          <p:cNvSpPr/>
          <p:nvPr/>
        </p:nvSpPr>
        <p:spPr>
          <a:xfrm>
            <a:off x="731520" y="1463040"/>
            <a:ext cx="3291840"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10B981"/>
                </a:solidFill>
              </a:defRPr>
            </a:pPr>
            <a:r>
              <a:t>TRỢ LÝ THOẠI REALTIME</a:t>
            </a:r>
          </a:p>
          <a:p>
            <a:pPr>
              <a:defRPr sz="1200">
                <a:solidFill>
                  <a:srgbClr val="F8FAFC"/>
                </a:solidFill>
              </a:defRPr>
            </a:pPr>
            <a:r>
              <a:t>• Đàm thoại 2 chiều qua WebRTC.</a:t>
            </a:r>
            <a:br/>
            <a:r>
              <a:t>• Bám nguồn tri thức RAG.</a:t>
            </a:r>
            <a:br/>
            <a:r>
              <a:t>• Phản hồi tức thì TTFA 1.8s - 2.5s.</a:t>
            </a:r>
            <a:br/>
            <a:r>
              <a:t>➔ Giải quyết Nghe thụ động.</a:t>
            </a:r>
          </a:p>
        </p:txBody>
      </p:sp>
      <p:sp>
        <p:nvSpPr>
          <p:cNvPr id="5" name="Rounded Rectangle 4"/>
          <p:cNvSpPr/>
          <p:nvPr/>
        </p:nvSpPr>
        <p:spPr>
          <a:xfrm>
            <a:off x="4389120" y="1463040"/>
            <a:ext cx="329184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3B82F6"/>
                </a:solidFill>
              </a:defRPr>
            </a:pPr>
            <a:r>
              <a:t>INGESTION PARETO</a:t>
            </a:r>
          </a:p>
          <a:p>
            <a:pPr>
              <a:defRPr sz="1200">
                <a:solidFill>
                  <a:srgbClr val="F8FAFC"/>
                </a:solidFill>
              </a:defRPr>
            </a:pPr>
            <a:r>
              <a:t>• Chế độ Pareto 40% budget.</a:t>
            </a:r>
            <a:br/>
            <a:r>
              <a:t>• Thuật toán Value-Based Trimming.</a:t>
            </a:r>
            <a:br/>
            <a:r>
              <a:t>• Gán nhãn ngữ nghĩa tự động.</a:t>
            </a:r>
            <a:br/>
            <a:r>
              <a:t>➔ Giải quyết Quá tải thông tin.</a:t>
            </a:r>
          </a:p>
        </p:txBody>
      </p:sp>
      <p:sp>
        <p:nvSpPr>
          <p:cNvPr id="6" name="Rounded Rectangle 5"/>
          <p:cNvSpPr/>
          <p:nvPr/>
        </p:nvSpPr>
        <p:spPr>
          <a:xfrm>
            <a:off x="8046720" y="1463040"/>
            <a:ext cx="338328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F59E0B"/>
                </a:solidFill>
              </a:defRPr>
            </a:pPr>
            <a:r>
              <a:t>ÔN TẬP NGẮT QUÃNG</a:t>
            </a:r>
          </a:p>
          <a:p>
            <a:pPr>
              <a:defRPr sz="1200">
                <a:solidFill>
                  <a:srgbClr val="F8FAFC"/>
                </a:solidFill>
              </a:defRPr>
            </a:pPr>
            <a:r>
              <a:t>• Tự động hóa thuật toán SM-2.</a:t>
            </a:r>
            <a:br/>
            <a:r>
              <a:t>• Gửi thông báo đẩy FCM nhắc nhở.</a:t>
            </a:r>
            <a:br/>
            <a:r>
              <a:t>• Quản lý lịch trình rơi trí nhớ.</a:t>
            </a:r>
            <a:br/>
            <a:r>
              <a:t>➔ Giải quyết Học trước quên sau.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PHẦN 2: CƠ SỞ LÝ THUYẾT (P1): LLM &amp; MÔ HÌNH NHÚNG SBERT</a:t>
            </a:r>
          </a:p>
        </p:txBody>
      </p:sp>
      <p:sp>
        <p:nvSpPr>
          <p:cNvPr id="4" name="Rounded Rectangle 3"/>
          <p:cNvSpPr/>
          <p:nvPr/>
        </p:nvSpPr>
        <p:spPr>
          <a:xfrm>
            <a:off x="731520" y="1463040"/>
            <a:ext cx="59436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3B82F6"/>
                </a:solidFill>
              </a:defRPr>
            </a:pPr>
            <a:r>
              <a:t>ỨNG DỤNG LLM &amp; SBERT (SENTENCE-TRANSFORMERS)</a:t>
            </a:r>
          </a:p>
          <a:p>
            <a:pPr>
              <a:defRPr sz="1200">
                <a:solidFill>
                  <a:srgbClr val="F8FAFC"/>
                </a:solidFill>
              </a:defRPr>
            </a:pPr>
            <a:r>
              <a:t>• Gemini 2.5/3.5 Flash: Chuẩn hóa văn bản bám nguồn, phân tách outline và lập kế hoạch bài học Pareto.</a:t>
            </a:r>
          </a:p>
          <a:p>
            <a:pPr>
              <a:defRPr sz="1200">
                <a:solidFill>
                  <a:srgbClr val="F8FAFC"/>
                </a:solidFill>
              </a:defRPr>
            </a:pPr>
            <a:r>
              <a:t>• Mô hình SBERT (Sentence-Transformers):</a:t>
            </a:r>
          </a:p>
          <a:p>
            <a:pPr>
              <a:defRPr sz="1200">
                <a:solidFill>
                  <a:srgbClr val="F8FAFC"/>
                </a:solidFill>
              </a:defRPr>
            </a:pPr>
            <a:r>
              <a:t>  - Tinh chỉnh kiến trúc Bi-Encoder (Siamese Networks) từ Transformer.</a:t>
            </a:r>
          </a:p>
          <a:p>
            <a:pPr>
              <a:defRPr sz="1200">
                <a:solidFill>
                  <a:srgbClr val="F8FAFC"/>
                </a:solidFill>
              </a:defRPr>
            </a:pPr>
            <a:r>
              <a:t>  - Áp dụng kỹ thuật Mean Pooling kết hợp Attention Mask chuẩn hóa L2.</a:t>
            </a:r>
          </a:p>
          <a:p>
            <a:pPr>
              <a:defRPr sz="1200">
                <a:solidFill>
                  <a:srgbClr val="F8FAFC"/>
                </a:solidFill>
              </a:defRPr>
            </a:pPr>
            <a:r>
              <a:t>  - Lập chỉ mục vector trước ngoại tuyến (offline), giúp tìm kiếm ngữ nghĩa thời gian thực đạt độ trễ O(1).</a:t>
            </a:r>
          </a:p>
        </p:txBody>
      </p:sp>
      <p:sp>
        <p:nvSpPr>
          <p:cNvPr id="5" name="Rounded Rectangle 4"/>
          <p:cNvSpPr/>
          <p:nvPr/>
        </p:nvSpPr>
        <p:spPr>
          <a:xfrm>
            <a:off x="6949440" y="1463040"/>
            <a:ext cx="44805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SƠ ĐỒ KIẾN TRÚC BI-ENCODER SBERT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CƠ SỞ LÝ THUYẾT (P2): HYBRID SEARCH RAG &amp; KHUNG ĐÁNH GIÁ RAGAS</a:t>
            </a:r>
          </a:p>
        </p:txBody>
      </p:sp>
      <p:sp>
        <p:nvSpPr>
          <p:cNvPr id="4" name="Rounded Rectangle 3"/>
          <p:cNvSpPr/>
          <p:nvPr/>
        </p:nvSpPr>
        <p:spPr>
          <a:xfrm>
            <a:off x="731520" y="1463040"/>
            <a:ext cx="59436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10B981"/>
                </a:solidFill>
              </a:defRPr>
            </a:pPr>
            <a:r>
              <a:t>TÌM KIẾM LAI HYBRID RAG VÀ CHỐNG ẢO GIÁC</a:t>
            </a:r>
          </a:p>
          <a:p>
            <a:pPr>
              <a:defRPr sz="1200">
                <a:solidFill>
                  <a:srgbClr val="F8FAFC"/>
                </a:solidFill>
              </a:defRPr>
            </a:pPr>
            <a:r>
              <a:t>• Hybrid Search: Kết hợp Lexical BM25 (chính xác từ khóa) + Dense Cosine (hiểu ý định).</a:t>
            </a:r>
          </a:p>
          <a:p>
            <a:pPr>
              <a:defRPr sz="1200">
                <a:solidFill>
                  <a:srgbClr val="F8FAFC"/>
                </a:solidFill>
              </a:defRPr>
            </a:pPr>
            <a:r>
              <a:t>• Gộp xếp hạng RRF (Reciprocal Rank Fusion, k=60): Gộp danh sách thứ hạng phi tham số.</a:t>
            </a:r>
          </a:p>
          <a:p>
            <a:pPr>
              <a:defRPr sz="1200">
                <a:solidFill>
                  <a:srgbClr val="F8FAFC"/>
                </a:solidFill>
              </a:defRPr>
            </a:pPr>
            <a:r>
              <a:t>• Cohere Reranker v2: Cross-Encoder xếp hạng lại độ liên quan ngữ nghĩa chi tiết ở tầng lọc 2.</a:t>
            </a:r>
          </a:p>
          <a:p>
            <a:pPr>
              <a:defRPr sz="1200">
                <a:solidFill>
                  <a:srgbClr val="F8FAFC"/>
                </a:solidFill>
              </a:defRPr>
            </a:pPr>
            <a:r>
              <a:t>• Khung RAGAS &amp; LLM-as-a-Judge: Dùng gemini-3.6-flash làm giám khảo độc lập đối soát 5 chỉ số.</a:t>
            </a:r>
          </a:p>
        </p:txBody>
      </p:sp>
      <p:sp>
        <p:nvSpPr>
          <p:cNvPr id="5" name="Rounded Rectangle 4"/>
          <p:cNvSpPr/>
          <p:nvPr/>
        </p:nvSpPr>
        <p:spPr>
          <a:xfrm>
            <a:off x="6949440" y="1463040"/>
            <a:ext cx="44805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SƠ ĐỒ LUỒNG HYBRID SEARCH RAG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QUẢN TRỊ DỮ LIỆU VECTOR VÀ CÔNG NGHỆ NỀN TẢNG (TECH STACK)</a:t>
            </a:r>
          </a:p>
        </p:txBody>
      </p:sp>
      <p:sp>
        <p:nvSpPr>
          <p:cNvPr id="4" name="Rounded Rectangle 3"/>
          <p:cNvSpPr/>
          <p:nvPr/>
        </p:nvSpPr>
        <p:spPr>
          <a:xfrm>
            <a:off x="731520" y="1463040"/>
            <a:ext cx="59436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3B82F6"/>
                </a:solidFill>
              </a:defRPr>
            </a:pPr>
            <a:r>
              <a:t>CỐT LÕI CÔNG NGHỆ NỀN TẢNG</a:t>
            </a:r>
          </a:p>
          <a:p>
            <a:pPr>
              <a:defRPr sz="1200">
                <a:solidFill>
                  <a:srgbClr val="F8FAFC"/>
                </a:solidFill>
              </a:defRPr>
            </a:pPr>
            <a:r>
              <a:t>• PostgreSQL + pgvector: Lưu trữ quan hệ &amp; tìm kiếm vector HNSW.</a:t>
            </a:r>
          </a:p>
          <a:p>
            <a:pPr>
              <a:defRPr sz="1200">
                <a:solidFill>
                  <a:srgbClr val="F8FAFC"/>
                </a:solidFill>
              </a:defRPr>
            </a:pPr>
            <a:r>
              <a:t>• FastAPI (Python 3.12, uv): REST API Gateway hiệu năng cao.</a:t>
            </a:r>
          </a:p>
          <a:p>
            <a:pPr>
              <a:defRPr sz="1200">
                <a:solidFill>
                  <a:srgbClr val="F8FAFC"/>
                </a:solidFill>
              </a:defRPr>
            </a:pPr>
            <a:r>
              <a:t>• LiveKit Cloud: Truyền tải âm thanh WebRTC thời gian thực.</a:t>
            </a:r>
          </a:p>
          <a:p>
            <a:pPr>
              <a:defRPr sz="1200">
                <a:solidFill>
                  <a:srgbClr val="F8FAFC"/>
                </a:solidFill>
              </a:defRPr>
            </a:pPr>
            <a:r>
              <a:t>• Flutter Mobile App + Drift SQLite: Cache bài học &amp; audio ngoại tuyến.</a:t>
            </a:r>
          </a:p>
          <a:p>
            <a:pPr>
              <a:defRPr sz="1200">
                <a:solidFill>
                  <a:srgbClr val="F8FAFC"/>
                </a:solidFill>
              </a:defRPr>
            </a:pPr>
            <a:r>
              <a:t>• Tavily Search API: Tra cứu Internet khi thiếu dữ liệu trong sách.</a:t>
            </a:r>
          </a:p>
        </p:txBody>
      </p:sp>
      <p:sp>
        <p:nvSpPr>
          <p:cNvPr id="5" name="Rounded Rectangle 4"/>
          <p:cNvSpPr/>
          <p:nvPr/>
        </p:nvSpPr>
        <p:spPr>
          <a:xfrm>
            <a:off x="6949440" y="1463040"/>
            <a:ext cx="44805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KHUNG 5 LOGO CÔNG NGHỆ CHÍNH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PHẦN 3: KIẾN TRÚC TỔNG QUAN HỆ THỐNG (SYSTEM ARCHITECTURE)</a:t>
            </a:r>
          </a:p>
        </p:txBody>
      </p:sp>
      <p:sp>
        <p:nvSpPr>
          <p:cNvPr id="4" name="Rounded Rectangle 3"/>
          <p:cNvSpPr/>
          <p:nvPr/>
        </p:nvSpPr>
        <p:spPr>
          <a:xfrm>
            <a:off x="731520" y="1463040"/>
            <a:ext cx="41148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3B82F6"/>
                </a:solidFill>
              </a:defRPr>
            </a:pPr>
            <a:r>
              <a:t>PHÂN TÁCH LUỒNG VẬN HÀNH</a:t>
            </a:r>
          </a:p>
          <a:p>
            <a:pPr>
              <a:defRPr sz="1200">
                <a:solidFill>
                  <a:srgbClr val="F8FAFC"/>
                </a:solidFill>
              </a:defRPr>
            </a:pPr>
            <a:r>
              <a:t>• Luồng REST HTTP: Xác thực JWT, CRUD tài liệu &amp; đồng bộ tiến độ.</a:t>
            </a:r>
          </a:p>
          <a:p>
            <a:pPr>
              <a:defRPr sz="1200">
                <a:solidFill>
                  <a:srgbClr val="F8FAFC"/>
                </a:solidFill>
              </a:defRPr>
            </a:pPr>
            <a:r>
              <a:t>• Luồng WebRTC Audio: Đàm thoại hai chiều trực tiếp qua LiveKit Server.</a:t>
            </a:r>
          </a:p>
          <a:p>
            <a:pPr>
              <a:defRPr sz="1200">
                <a:solidFill>
                  <a:srgbClr val="F8FAFC"/>
                </a:solidFill>
              </a:defRPr>
            </a:pPr>
            <a:r>
              <a:t>• Worker ngầm: Celery + Redis Broker xử lý bóc tách PDF/EPUB, TTS audio &amp; thông báo FCM.</a:t>
            </a:r>
          </a:p>
        </p:txBody>
      </p:sp>
      <p:sp>
        <p:nvSpPr>
          <p:cNvPr id="5" name="Rounded Rectangle 4"/>
          <p:cNvSpPr/>
          <p:nvPr/>
        </p:nvSpPr>
        <p:spPr>
          <a:xfrm>
            <a:off x="5120640" y="1463040"/>
            <a:ext cx="63093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SƠ ĐỒ KIẾN TRÚC TỔNG QUAN HỆ THỐNG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SƠ ĐỒ USECASE VÀ SƠ ĐỒ LỚP (CLASS DIAGRAM)</a:t>
            </a:r>
          </a:p>
        </p:txBody>
      </p:sp>
      <p:sp>
        <p:nvSpPr>
          <p:cNvPr id="4" name="Rounded Rectangle 3"/>
          <p:cNvSpPr/>
          <p:nvPr/>
        </p:nvSpPr>
        <p:spPr>
          <a:xfrm>
            <a:off x="731520" y="1463040"/>
            <a:ext cx="41148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10B981"/>
                </a:solidFill>
              </a:defRPr>
            </a:pPr>
            <a:r>
              <a:t>THỰC THỂ DỮ LIỆU CỐT LÕI</a:t>
            </a:r>
          </a:p>
          <a:p>
            <a:pPr>
              <a:defRPr sz="1200">
                <a:solidFill>
                  <a:srgbClr val="F8FAFC"/>
                </a:solidFill>
              </a:defRPr>
            </a:pPr>
            <a:r>
              <a:t>• Book: Siêu dữ liệu sách + trường ai_summary (JSON tóm tắt AI).</a:t>
            </a:r>
          </a:p>
          <a:p>
            <a:pPr>
              <a:defRPr sz="1200">
                <a:solidFill>
                  <a:srgbClr val="F8FAFC"/>
                </a:solidFill>
              </a:defRPr>
            </a:pPr>
            <a:r>
              <a:t>• BookSection: Cấu trúc cây tự liên kết giữ nguyên thứ tự mục lục.</a:t>
            </a:r>
          </a:p>
          <a:p>
            <a:pPr>
              <a:defRPr sz="1200">
                <a:solidFill>
                  <a:srgbClr val="F8FAFC"/>
                </a:solidFill>
              </a:defRPr>
            </a:pPr>
            <a:r>
              <a:t>• ReadingPlan &amp; LearningUnit: Lập lộ trình &amp; từng bài học thoại.</a:t>
            </a:r>
          </a:p>
        </p:txBody>
      </p:sp>
      <p:sp>
        <p:nvSpPr>
          <p:cNvPr id="5" name="Rounded Rectangle 4"/>
          <p:cNvSpPr/>
          <p:nvPr/>
        </p:nvSpPr>
        <p:spPr>
          <a:xfrm>
            <a:off x="5120640" y="1463040"/>
            <a:ext cx="63093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CHÈN SƠ ĐỒ USECASE &amp; CLASS DIAGRAM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PHẦN 4: QUY TRÌNH INGESTION PIPELINE VÀ SINH AUDIO TỰ ĐỘNG</a:t>
            </a:r>
          </a:p>
        </p:txBody>
      </p:sp>
      <p:sp>
        <p:nvSpPr>
          <p:cNvPr id="4" name="Rounded Rectangle 3"/>
          <p:cNvSpPr/>
          <p:nvPr/>
        </p:nvSpPr>
        <p:spPr>
          <a:xfrm>
            <a:off x="731520" y="1463040"/>
            <a:ext cx="41148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3B82F6"/>
                </a:solidFill>
              </a:defRPr>
            </a:pPr>
            <a:r>
              <a:t>QUY TRÌNH XỬ LÝ SÁCH THÔ</a:t>
            </a:r>
          </a:p>
          <a:p>
            <a:pPr>
              <a:defRPr sz="1200">
                <a:solidFill>
                  <a:srgbClr val="F8FAFC"/>
                </a:solidFill>
              </a:defRPr>
            </a:pPr>
            <a:r>
              <a:t>• Cổng Validation Gate: Kiểm tra định dạng (PDF/EPUB), mã hóa &amp; mật độ chữ.</a:t>
            </a:r>
          </a:p>
          <a:p>
            <a:pPr>
              <a:defRPr sz="1200">
                <a:solidFill>
                  <a:srgbClr val="F8FAFC"/>
                </a:solidFill>
              </a:defRPr>
            </a:pPr>
            <a:r>
              <a:t>• Full Mode: Phân tách đề mục Heuristic, chuẩn hóa bám 100% sách gốc.</a:t>
            </a:r>
          </a:p>
          <a:p>
            <a:pPr>
              <a:defRPr sz="1200">
                <a:solidFill>
                  <a:srgbClr val="F8FAFC"/>
                </a:solidFill>
              </a:defRPr>
            </a:pPr>
            <a:r>
              <a:t>• Pareto Mode: Gán nhãn ngữ nghĩa (core_concept, definition, formula...) định hướng LLM.</a:t>
            </a:r>
          </a:p>
        </p:txBody>
      </p:sp>
      <p:sp>
        <p:nvSpPr>
          <p:cNvPr id="5" name="Rounded Rectangle 4"/>
          <p:cNvSpPr/>
          <p:nvPr/>
        </p:nvSpPr>
        <p:spPr>
          <a:xfrm>
            <a:off x="5120640" y="1463040"/>
            <a:ext cx="63093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SƠ ĐỒ INGESTION PIPELINE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QUY TRÌNH LẬP KẾ HOẠCH PARETO THEO GIÁ TRỊ (PHASE 24)</a:t>
            </a:r>
          </a:p>
        </p:txBody>
      </p:sp>
      <p:sp>
        <p:nvSpPr>
          <p:cNvPr id="4" name="Rounded Rectangle 3"/>
          <p:cNvSpPr/>
          <p:nvPr/>
        </p:nvSpPr>
        <p:spPr>
          <a:xfrm>
            <a:off x="731520" y="1463040"/>
            <a:ext cx="50292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10B981"/>
                </a:solidFill>
              </a:defRPr>
            </a:pPr>
            <a:r>
              <a:t>THUẬT TOÁN VALUE-BASED TRIMMING</a:t>
            </a:r>
          </a:p>
          <a:p>
            <a:pPr>
              <a:defRPr sz="1100">
                <a:solidFill>
                  <a:srgbClr val="F8FAFC"/>
                </a:solidFill>
              </a:defRPr>
            </a:pPr>
            <a:r>
              <a:t>• Tỷ lệ phủ mục tiêu: 40% tổng token sách gốc (PARETO_TARGET_COVERAGE_RATIO = 0.40).</a:t>
            </a:r>
          </a:p>
          <a:p>
            <a:pPr>
              <a:defRPr sz="1100">
                <a:solidFill>
                  <a:srgbClr val="F8FAFC"/>
                </a:solidFill>
              </a:defRPr>
            </a:pPr>
            <a:r>
              <a:t>• Ngưỡng token Backend: 30.000 soft limit / 150.000 hard limit.</a:t>
            </a:r>
          </a:p>
          <a:p>
            <a:pPr>
              <a:defRPr sz="1100">
                <a:solidFill>
                  <a:srgbClr val="F8FAFC"/>
                </a:solidFill>
              </a:defRPr>
            </a:pPr>
            <a:r>
              <a:t>• Thuật toán 4 bước:</a:t>
            </a:r>
          </a:p>
          <a:p>
            <a:pPr>
              <a:defRPr sz="1100">
                <a:solidFill>
                  <a:srgbClr val="F8FAFC"/>
                </a:solidFill>
              </a:defRPr>
            </a:pPr>
            <a:r>
              <a:t>  1. Duy trì tối thiểu 3 bài học.</a:t>
            </a:r>
          </a:p>
          <a:p>
            <a:pPr>
              <a:defRPr sz="1100">
                <a:solidFill>
                  <a:srgbClr val="F8FAFC"/>
                </a:solidFill>
              </a:defRPr>
            </a:pPr>
            <a:r>
              <a:t>  2. Bảo toàn mạch tự nhiên khi total &lt;= 40%.</a:t>
            </a:r>
          </a:p>
          <a:p>
            <a:pPr>
              <a:defRPr sz="1100">
                <a:solidFill>
                  <a:srgbClr val="F8FAFC"/>
                </a:solidFill>
              </a:defRPr>
            </a:pPr>
            <a:r>
              <a:t>  3. Cắt tỉa theo điểm quan trọng (importance_score) giảm dần, tie-breaker theo thứ tự chương gốc.</a:t>
            </a:r>
          </a:p>
          <a:p>
            <a:pPr>
              <a:defRPr sz="1100">
                <a:solidFill>
                  <a:srgbClr val="F8FAFC"/>
                </a:solidFill>
              </a:defRPr>
            </a:pPr>
            <a:r>
              <a:t>  4. Tái sắp xếp về đúng trật tự đọc mục lục gốc.</a:t>
            </a:r>
          </a:p>
        </p:txBody>
      </p:sp>
      <p:sp>
        <p:nvSpPr>
          <p:cNvPr id="5" name="Rounded Rectangle 4"/>
          <p:cNvSpPr/>
          <p:nvPr/>
        </p:nvSpPr>
        <p:spPr>
          <a:xfrm>
            <a:off x="6035040" y="1463040"/>
            <a:ext cx="53949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SƠ ĐỒ THUẬT TOÁN VALUE-BASED TRIMMING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KIẾN TRÚC TRỢ LÝ GIỌNG NÓI REALTIME &amp; GROUNDING ROUTER</a:t>
            </a:r>
          </a:p>
        </p:txBody>
      </p:sp>
      <p:sp>
        <p:nvSpPr>
          <p:cNvPr id="4" name="Rounded Rectangle 3"/>
          <p:cNvSpPr/>
          <p:nvPr/>
        </p:nvSpPr>
        <p:spPr>
          <a:xfrm>
            <a:off x="731520" y="1463040"/>
            <a:ext cx="50292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3B82F6"/>
                </a:solidFill>
              </a:defRPr>
            </a:pPr>
            <a:r>
              <a:t>SEMANTIC GROUNDING ROUTER 4 NHÁNH</a:t>
            </a:r>
          </a:p>
          <a:p>
            <a:pPr>
              <a:defRPr sz="1200">
                <a:solidFill>
                  <a:srgbClr val="F8FAFC"/>
                </a:solidFill>
              </a:defRPr>
            </a:pPr>
            <a:r>
              <a:t>1. BOOK_METADATA: Trả lời tác giả, số chương, tóm tắt.</a:t>
            </a:r>
          </a:p>
          <a:p>
            <a:pPr>
              <a:defRPr sz="1200">
                <a:solidFill>
                  <a:srgbClr val="F8FAFC"/>
                </a:solidFill>
              </a:defRPr>
            </a:pPr>
            <a:r>
              <a:t>2. SECTION_REFERENCE: Trích xuất thẳng chương/mục.</a:t>
            </a:r>
          </a:p>
          <a:p>
            <a:pPr>
              <a:defRPr sz="1200">
                <a:solidFill>
                  <a:srgbClr val="F8FAFC"/>
                </a:solidFill>
              </a:defRPr>
            </a:pPr>
            <a:r>
              <a:t>3. NEED_CLARIFICATION: Yêu cầu làm rõ khi câu hỏi ngắn.</a:t>
            </a:r>
          </a:p>
          <a:p>
            <a:pPr>
              <a:defRPr sz="1200">
                <a:solidFill>
                  <a:srgbClr val="F8FAFC"/>
                </a:solidFill>
              </a:defRPr>
            </a:pPr>
            <a:r>
              <a:t>4. HYBRID_RAG: Kích hoạt luồng Hybrid Search đầy đủ.</a:t>
            </a:r>
          </a:p>
        </p:txBody>
      </p:sp>
      <p:sp>
        <p:nvSpPr>
          <p:cNvPr id="5" name="Rounded Rectangle 4"/>
          <p:cNvSpPr/>
          <p:nvPr/>
        </p:nvSpPr>
        <p:spPr>
          <a:xfrm>
            <a:off x="6035040" y="1463040"/>
            <a:ext cx="53949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SƠ ĐỒ GROUNDING ROUTER 4 NHÁNH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MINH HỌA GIAO DIỆN ỨNG DỤNG DI ĐỘNG (FLUTTER APP)</a:t>
            </a:r>
          </a:p>
        </p:txBody>
      </p:sp>
      <p:sp>
        <p:nvSpPr>
          <p:cNvPr id="4" name="Rounded Rectangle 3"/>
          <p:cNvSpPr/>
          <p:nvPr/>
        </p:nvSpPr>
        <p:spPr>
          <a:xfrm>
            <a:off x="731520" y="1463040"/>
            <a:ext cx="329184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MÀN HÌNH HÔM NAY ]</a:t>
            </a:r>
          </a:p>
        </p:txBody>
      </p:sp>
      <p:sp>
        <p:nvSpPr>
          <p:cNvPr id="5" name="Rounded Rectangle 4"/>
          <p:cNvSpPr/>
          <p:nvPr/>
        </p:nvSpPr>
        <p:spPr>
          <a:xfrm>
            <a:off x="4389120" y="1463040"/>
            <a:ext cx="329184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MÀN HÌNH PLAYER ]</a:t>
            </a:r>
          </a:p>
        </p:txBody>
      </p:sp>
      <p:sp>
        <p:nvSpPr>
          <p:cNvPr id="6" name="Rounded Rectangle 5"/>
          <p:cNvSpPr/>
          <p:nvPr/>
        </p:nvSpPr>
        <p:spPr>
          <a:xfrm>
            <a:off x="8046720" y="1463040"/>
            <a:ext cx="338328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MÀN HÌNH VOICE CALL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PHẦN 5: ĐÁNH GIÁ HIỆU NĂNG VÀ PHÂN BỔ ĐỘ TRỄ ĐÀM THOẠI (TTFA)</a:t>
            </a:r>
          </a:p>
        </p:txBody>
      </p:sp>
      <p:sp>
        <p:nvSpPr>
          <p:cNvPr id="4" name="Rounded Rectangle 3"/>
          <p:cNvSpPr/>
          <p:nvPr/>
        </p:nvSpPr>
        <p:spPr>
          <a:xfrm>
            <a:off x="731520" y="1463040"/>
            <a:ext cx="50292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10B981"/>
                </a:solidFill>
              </a:defRPr>
            </a:pPr>
            <a:r>
              <a:t>KẾT QUẢ ĐO ĐẠC ĐỘ TRỄ THỰC TẾ (BẢNG 9.1)</a:t>
            </a:r>
          </a:p>
          <a:p>
            <a:pPr>
              <a:defRPr sz="1100">
                <a:solidFill>
                  <a:srgbClr val="F8FAFC"/>
                </a:solidFill>
              </a:defRPr>
            </a:pPr>
            <a:r>
              <a:t>• pytest tự động: 103/103 test case đạt 100%.</a:t>
            </a:r>
          </a:p>
          <a:p>
            <a:pPr>
              <a:defRPr sz="1100">
                <a:solidFill>
                  <a:srgbClr val="F8FAFC"/>
                </a:solidFill>
              </a:defRPr>
            </a:pPr>
            <a:r>
              <a:t>• Semantic Router: P50 = 29ms | P95 = 295ms.</a:t>
            </a:r>
          </a:p>
          <a:p>
            <a:pPr>
              <a:defRPr sz="1100">
                <a:solidFill>
                  <a:srgbClr val="F8FAFC"/>
                </a:solidFill>
              </a:defRPr>
            </a:pPr>
            <a:r>
              <a:t>• Hybrid RAG Retrieval: P50 = 1493ms | P95 = 3100ms.</a:t>
            </a:r>
          </a:p>
          <a:p>
            <a:pPr>
              <a:defRPr sz="1100">
                <a:solidFill>
                  <a:srgbClr val="F8FAFC"/>
                </a:solidFill>
              </a:defRPr>
            </a:pPr>
            <a:r>
              <a:t>• Tavily Web Search: P50 = 869ms | P95 = 869ms.</a:t>
            </a:r>
          </a:p>
          <a:p>
            <a:pPr>
              <a:defRPr sz="1100">
                <a:solidFill>
                  <a:srgbClr val="F8FAFC"/>
                </a:solidFill>
              </a:defRPr>
            </a:pPr>
            <a:r>
              <a:t>• Voice Turn Total: P50 = 12.279ms (~12,28s).</a:t>
            </a:r>
          </a:p>
          <a:p>
            <a:pPr>
              <a:defRPr sz="1100">
                <a:solidFill>
                  <a:srgbClr val="F8FAFC"/>
                </a:solidFill>
              </a:defRPr>
            </a:pPr>
            <a:r>
              <a:t>• TTFA (Phản hồi đầu tiên): 1.8s - 2.5s nhờ Audio Streaming qua WebRTC.</a:t>
            </a:r>
          </a:p>
        </p:txBody>
      </p:sp>
      <p:sp>
        <p:nvSpPr>
          <p:cNvPr id="5" name="Rounded Rectangle 4"/>
          <p:cNvSpPr/>
          <p:nvPr/>
        </p:nvSpPr>
        <p:spPr>
          <a:xfrm>
            <a:off x="6035040" y="1463040"/>
            <a:ext cx="53949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BẢNG 9.1 ĐỘ TRỄ HOẶC BIỂU ĐỒ PHÂN RÃ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ĐÁNH GIÁ CHẤT LƯỢNG RAG (KHUNG RAGAS) &amp; ABLATION STUDY</a:t>
            </a:r>
          </a:p>
        </p:txBody>
      </p:sp>
      <p:sp>
        <p:nvSpPr>
          <p:cNvPr id="4" name="Rounded Rectangle 3"/>
          <p:cNvSpPr/>
          <p:nvPr/>
        </p:nvSpPr>
        <p:spPr>
          <a:xfrm>
            <a:off x="731520" y="1463040"/>
            <a:ext cx="50292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3B82F6"/>
                </a:solidFill>
              </a:defRPr>
            </a:pPr>
            <a:r>
              <a:t>CHỈ SỐ RAGAS 60 CA &amp; ABLATION STUDY</a:t>
            </a:r>
          </a:p>
          <a:p>
            <a:pPr>
              <a:defRPr sz="1100">
                <a:solidFill>
                  <a:srgbClr val="F8FAFC"/>
                </a:solidFill>
              </a:defRPr>
            </a:pPr>
            <a:r>
              <a:t>• Answer Correctness: 98,67% (0,9867).</a:t>
            </a:r>
          </a:p>
          <a:p>
            <a:pPr>
              <a:defRPr sz="1100">
                <a:solidFill>
                  <a:srgbClr val="F8FAFC"/>
                </a:solidFill>
              </a:defRPr>
            </a:pPr>
            <a:r>
              <a:t>• Context Precision &amp; Recall: 95,98% (0,9598).</a:t>
            </a:r>
          </a:p>
          <a:p>
            <a:pPr>
              <a:defRPr sz="1100">
                <a:solidFill>
                  <a:srgbClr val="F8FAFC"/>
                </a:solidFill>
              </a:defRPr>
            </a:pPr>
            <a:r>
              <a:t>• Answer Relevancy: 94,58% (0,9458).</a:t>
            </a:r>
          </a:p>
          <a:p>
            <a:pPr>
              <a:defRPr sz="1100">
                <a:solidFill>
                  <a:srgbClr val="F8FAFC"/>
                </a:solidFill>
              </a:defRPr>
            </a:pPr>
            <a:r>
              <a:t>• Faithfulness (Chống ảo giác): 82,77% (0,8277).</a:t>
            </a:r>
          </a:p>
          <a:p>
            <a:pPr>
              <a:defRPr sz="1100">
                <a:solidFill>
                  <a:srgbClr val="F8FAFC"/>
                </a:solidFill>
              </a:defRPr>
            </a:pPr>
            <a:r>
              <a:t>• Ablation Study (Precision@5 | Recall):</a:t>
            </a:r>
          </a:p>
          <a:p>
            <a:pPr>
              <a:defRPr sz="1100">
                <a:solidFill>
                  <a:srgbClr val="F8FAFC"/>
                </a:solidFill>
              </a:defRPr>
            </a:pPr>
            <a:r>
              <a:t>  - BM25: 72,5% | 75,0%</a:t>
            </a:r>
          </a:p>
          <a:p>
            <a:pPr>
              <a:defRPr sz="1100">
                <a:solidFill>
                  <a:srgbClr val="F8FAFC"/>
                </a:solidFill>
              </a:defRPr>
            </a:pPr>
            <a:r>
              <a:t>  - Dense Cosine: 84,0% | 88,0%</a:t>
            </a:r>
          </a:p>
          <a:p>
            <a:pPr>
              <a:defRPr sz="1100">
                <a:solidFill>
                  <a:srgbClr val="F8FAFC"/>
                </a:solidFill>
              </a:defRPr>
            </a:pPr>
            <a:r>
              <a:t>  - Hybrid + Reranker (Đề xuất): 91,5% | 94,0%</a:t>
            </a:r>
          </a:p>
        </p:txBody>
      </p:sp>
      <p:sp>
        <p:nvSpPr>
          <p:cNvPr id="5" name="Rounded Rectangle 4"/>
          <p:cNvSpPr/>
          <p:nvPr/>
        </p:nvSpPr>
        <p:spPr>
          <a:xfrm>
            <a:off x="6035040" y="1463040"/>
            <a:ext cx="53949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BẢNG 9.3 RAGAS &amp; BẢNG 9.4 ABLATION STUDY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B82F6"/>
                </a:solidFill>
                <a:latin typeface="Arial"/>
              </a:defRPr>
            </a:pPr>
            <a:r>
              <a:t>TRIÂM CAPSTONE DEFENSE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F8FAFC"/>
                </a:solidFill>
                <a:latin typeface="Arial"/>
              </a:defRPr>
            </a:pPr>
            <a:r>
              <a:t>PHẦN 6: KẾT LUẬN VÀ HƯỚNG PHÁT TRIỂN TƯƠNG LAI</a:t>
            </a:r>
          </a:p>
        </p:txBody>
      </p:sp>
      <p:sp>
        <p:nvSpPr>
          <p:cNvPr id="4" name="Rounded Rectangle 3"/>
          <p:cNvSpPr/>
          <p:nvPr/>
        </p:nvSpPr>
        <p:spPr>
          <a:xfrm>
            <a:off x="731520" y="1463040"/>
            <a:ext cx="59436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10B981"/>
                </a:solidFill>
              </a:defRPr>
            </a:pPr>
            <a:r>
              <a:t>ĐÓNG GÓP CHÍNH VÀ HƯỚNG PHÁT TRIỂN</a:t>
            </a:r>
          </a:p>
          <a:p>
            <a:pPr>
              <a:defRPr sz="1200">
                <a:solidFill>
                  <a:srgbClr val="F8FAFC"/>
                </a:solidFill>
              </a:defRPr>
            </a:pPr>
            <a:r>
              <a:t>1. Nền tảng sách nói đàm thoại hai chiều WebRTC bám nguồn tiếng Việt đầu tiên.</a:t>
            </a:r>
          </a:p>
          <a:p>
            <a:pPr>
              <a:defRPr sz="1200">
                <a:solidFill>
                  <a:srgbClr val="F8FAFC"/>
                </a:solidFill>
              </a:defRPr>
            </a:pPr>
            <a:r>
              <a:t>2. Quy trình Ingestion Pipeline Pareto 40% với thuật toán Value-Based Trimming.</a:t>
            </a:r>
          </a:p>
          <a:p>
            <a:pPr>
              <a:defRPr sz="1200">
                <a:solidFill>
                  <a:srgbClr val="F8FAFC"/>
                </a:solidFill>
              </a:defRPr>
            </a:pPr>
            <a:r>
              <a:t>3. Tự động hóa lịch trình nhắc nhở ôn tập ngắt quãng dựa trên thuật toán SM-2.</a:t>
            </a:r>
          </a:p>
          <a:p>
            <a:pPr>
              <a:defRPr sz="1200">
                <a:solidFill>
                  <a:srgbClr val="F8FAFC"/>
                </a:solidFill>
              </a:defRPr>
            </a:pPr>
            <a:r>
              <a:t>• Hướng phát triển:</a:t>
            </a:r>
          </a:p>
          <a:p>
            <a:pPr>
              <a:defRPr sz="1200">
                <a:solidFill>
                  <a:srgbClr val="F8FAFC"/>
                </a:solidFill>
              </a:defRPr>
            </a:pPr>
            <a:r>
              <a:t>  - Trích xuất tri thức đa phương tiện (video bài giảng, công thức toán/đồ thị).</a:t>
            </a:r>
          </a:p>
          <a:p>
            <a:pPr>
              <a:defRPr sz="1200">
                <a:solidFill>
                  <a:srgbClr val="F8FAFC"/>
                </a:solidFill>
              </a:defRPr>
            </a:pPr>
            <a:r>
              <a:t>  - Tích hợp công nghệ Clone giọng nói cá nhân hóa.</a:t>
            </a:r>
          </a:p>
          <a:p>
            <a:pPr>
              <a:defRPr sz="1200">
                <a:solidFill>
                  <a:srgbClr val="F8FAFC"/>
                </a:solidFill>
              </a:defRPr>
            </a:pPr>
            <a:r>
              <a:t>XIN CHÂN THÀNH CẢM ƠN HỘI ĐỒNG PHẢN BIỆN!</a:t>
            </a:r>
          </a:p>
        </p:txBody>
      </p:sp>
      <p:sp>
        <p:nvSpPr>
          <p:cNvPr id="5" name="Rounded Rectangle 4"/>
          <p:cNvSpPr/>
          <p:nvPr/>
        </p:nvSpPr>
        <p:spPr>
          <a:xfrm>
            <a:off x="6949440" y="1463040"/>
            <a:ext cx="4480560" cy="47548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B82F6"/>
                </a:solidFill>
                <a:latin typeface="Arial"/>
              </a:defRPr>
            </a:pPr>
            <a:r>
              <a:t>[ MÃ QR CODE TRẢI NGHIỆM DEMO ỨNG DỤNG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